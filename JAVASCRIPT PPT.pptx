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83" r:id="rId12"/>
    <p:sldId id="284" r:id="rId13"/>
    <p:sldId id="290" r:id="rId14"/>
    <p:sldId id="286" r:id="rId15"/>
    <p:sldId id="287" r:id="rId16"/>
    <p:sldId id="288" r:id="rId17"/>
    <p:sldId id="289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6" r:id="rId29"/>
    <p:sldId id="275" r:id="rId30"/>
    <p:sldId id="277" r:id="rId31"/>
    <p:sldId id="278" r:id="rId32"/>
    <p:sldId id="279" r:id="rId33"/>
    <p:sldId id="280" r:id="rId34"/>
    <p:sldId id="281" r:id="rId35"/>
    <p:sldId id="282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Samantha Robertson" initials="SR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8DC"/>
    <a:srgbClr val="0078D7"/>
    <a:srgbClr val="B83B1D"/>
    <a:srgbClr val="D83B01"/>
    <a:srgbClr val="D7D7D7"/>
    <a:srgbClr val="C8C8C8"/>
    <a:srgbClr val="DD462F"/>
    <a:srgbClr val="9BC9EF"/>
    <a:srgbClr val="898E8C"/>
    <a:srgbClr val="DFC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67A00-4EA6-47C7-AC92-DF7D2E516786}" v="2" dt="2026-09-30T06:19:44.336"/>
  </p1510:revLst>
</p1510:revInfo>
</file>

<file path=ppt/tableStyles.xml><?xml version="1.0" encoding="utf-8"?>
<a:tblStyleLst xmlns:a="http://schemas.openxmlformats.org/drawingml/2006/main" def="{0E3FDE45-AF77-4B5C-9715-49D594BDF05E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1230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 descr="Office desk with laptop in the center surrounded by paper, pen, pencils, and other office items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2718924" y="3394610"/>
            <a:ext cx="9473076" cy="202328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9632" y="3850504"/>
            <a:ext cx="7611908" cy="1111495"/>
          </a:xfrm>
          <a:noFill/>
        </p:spPr>
        <p:txBody>
          <a:bodyPr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1440382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0"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440382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0" algn="ctr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709738"/>
            <a:ext cx="10079736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589463"/>
            <a:ext cx="1007973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55736" y="6356352"/>
            <a:ext cx="3276600" cy="365125"/>
          </a:xfrm>
        </p:spPr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8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2600" y="1501775"/>
            <a:ext cx="47434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600" y="1501775"/>
            <a:ext cx="47434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1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1414463"/>
            <a:ext cx="47021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2600" y="2238375"/>
            <a:ext cx="47021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07004" y="1414463"/>
            <a:ext cx="47253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07004" y="2238375"/>
            <a:ext cx="47253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55736" y="6356352"/>
            <a:ext cx="3276600" cy="365125"/>
          </a:xfrm>
        </p:spPr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311128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874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4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457200"/>
            <a:ext cx="39433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0300" y="987425"/>
            <a:ext cx="562203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1650" y="2171700"/>
            <a:ext cx="3943350" cy="3697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55736" y="6356352"/>
            <a:ext cx="3276600" cy="365125"/>
          </a:xfrm>
        </p:spPr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936" y="457200"/>
            <a:ext cx="394106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208776" y="987425"/>
            <a:ext cx="562356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3936" y="2176272"/>
            <a:ext cx="3941064" cy="3694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92256" y="365125"/>
            <a:ext cx="6400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2600" y="365125"/>
            <a:ext cx="91630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31A3-BB3E-4313-83C9-61296DA7E41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55736" y="6356352"/>
            <a:ext cx="3276600" cy="365125"/>
          </a:xfrm>
        </p:spPr>
        <p:txBody>
          <a:bodyPr/>
          <a:lstStyle/>
          <a:p>
            <a:fld id="{44E4EFAB-AE02-4809-8285-EDC44B9E3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7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44038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0"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311128" cy="64008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5648" y="1447800"/>
            <a:ext cx="10076688" cy="4386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55648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6192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5736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7" r:id="rId4"/>
    <p:sldLayoutId id="2147483678" r:id="rId5"/>
    <p:sldLayoutId id="2147483672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8000"/>
        </a:lnSpc>
        <a:spcBef>
          <a:spcPts val="0"/>
        </a:spcBef>
        <a:spcAft>
          <a:spcPts val="800"/>
        </a:spcAft>
        <a:buClr>
          <a:schemeClr val="tx1">
            <a:lumMod val="75000"/>
            <a:lumOff val="25000"/>
          </a:schemeClr>
        </a:buClr>
        <a:buFontTx/>
        <a:buNone/>
        <a:defRPr sz="16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tx1">
            <a:lumMod val="75000"/>
            <a:lumOff val="25000"/>
          </a:schemeClr>
        </a:buClr>
        <a:buFont typeface="Arial" panose="020B0604020202020204" pitchFamily="34" charset="0"/>
        <a:buNone/>
        <a:defRPr sz="1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5699839" y="3762014"/>
            <a:ext cx="7611908" cy="1111495"/>
          </a:xfrm>
        </p:spPr>
        <p:txBody>
          <a:bodyPr>
            <a:normAutofit/>
          </a:bodyPr>
          <a:lstStyle/>
          <a:p>
            <a:r>
              <a:rPr lang="en-US" sz="4800" b="1" i="1" u="sng" dirty="0">
                <a:solidFill>
                  <a:schemeClr val="bg1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A3D6-DA3C-7E08-3EB6-805A7B33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A0D8-9A6D-D7C7-EA28-5ACB27F119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454584"/>
            <a:ext cx="10076688" cy="512319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JavaScript is a </a:t>
            </a:r>
            <a:r>
              <a:rPr lang="en-US" sz="2800" dirty="0">
                <a:highlight>
                  <a:srgbClr val="FFFF00"/>
                </a:highlight>
              </a:rPr>
              <a:t>Programming Language</a:t>
            </a:r>
            <a:r>
              <a:rPr lang="en-US" sz="2800" dirty="0"/>
              <a:t> &amp; </a:t>
            </a:r>
            <a:r>
              <a:rPr lang="en-US" sz="2800" dirty="0">
                <a:highlight>
                  <a:srgbClr val="FFFF00"/>
                </a:highlight>
              </a:rPr>
              <a:t>Scripting Language</a:t>
            </a:r>
            <a:r>
              <a:rPr lang="en-US" sz="2800" dirty="0"/>
              <a:t> 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We use it to </a:t>
            </a:r>
            <a:r>
              <a:rPr lang="en-US" sz="2800" dirty="0">
                <a:highlight>
                  <a:srgbClr val="FFFF00"/>
                </a:highlight>
              </a:rPr>
              <a:t>give instructions to the Computer 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Input [ CODE ] </a:t>
            </a:r>
            <a:r>
              <a:rPr lang="en-US" sz="2800" dirty="0">
                <a:sym typeface="Wingdings" panose="05000000000000000000" pitchFamily="2" charset="2"/>
              </a:rPr>
              <a:t> Computer  Output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536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6F58-C4C0-5EC8-5F62-62C05EAA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A26A-3AFA-9B74-3789-76DE7D493D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779049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/>
              <a:t>Javascript</a:t>
            </a:r>
            <a:r>
              <a:rPr lang="en-US" sz="2800" dirty="0"/>
              <a:t> is a </a:t>
            </a:r>
            <a:r>
              <a:rPr lang="en-US" sz="2800" dirty="0">
                <a:highlight>
                  <a:srgbClr val="FFFF00"/>
                </a:highlight>
              </a:rPr>
              <a:t>High-Level Language </a:t>
            </a:r>
            <a:r>
              <a:rPr lang="en-US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JavaScript is use for web </a:t>
            </a:r>
            <a:r>
              <a:rPr lang="en-US" sz="2800" dirty="0" err="1"/>
              <a:t>Devlopment</a:t>
            </a:r>
            <a:r>
              <a:rPr lang="en-US" sz="2800" dirty="0"/>
              <a:t> and </a:t>
            </a:r>
            <a:r>
              <a:rPr lang="en-US" sz="2800" dirty="0">
                <a:highlight>
                  <a:srgbClr val="FFFF00"/>
                </a:highlight>
              </a:rPr>
              <a:t>create </a:t>
            </a:r>
            <a:r>
              <a:rPr lang="en-US" sz="2800" dirty="0" err="1">
                <a:highlight>
                  <a:srgbClr val="FFFF00"/>
                </a:highlight>
              </a:rPr>
              <a:t>intrective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/>
              <a:t>and </a:t>
            </a:r>
            <a:r>
              <a:rPr lang="en-US" sz="2800" dirty="0">
                <a:highlight>
                  <a:srgbClr val="FFFF00"/>
                </a:highlight>
              </a:rPr>
              <a:t>Dynamic Content </a:t>
            </a:r>
            <a:r>
              <a:rPr lang="en-US" sz="2800" dirty="0"/>
              <a:t>on Web page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JavaScript Enables the </a:t>
            </a:r>
            <a:r>
              <a:rPr lang="en-US" sz="2800" dirty="0">
                <a:highlight>
                  <a:srgbClr val="FFFF00"/>
                </a:highlight>
              </a:rPr>
              <a:t>Functionality</a:t>
            </a:r>
            <a:r>
              <a:rPr lang="en-US" sz="2800" dirty="0"/>
              <a:t> in HTML &amp; CSS </a:t>
            </a:r>
            <a:r>
              <a:rPr lang="en-US" sz="2800" dirty="0" err="1"/>
              <a:t>WebPages</a:t>
            </a:r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0793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02E6-715D-F0C9-82E7-E6F1E218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 :- </a:t>
            </a:r>
            <a:endParaRPr lang="en-IN" dirty="0"/>
          </a:p>
        </p:txBody>
      </p:sp>
      <p:pic>
        <p:nvPicPr>
          <p:cNvPr id="4" name="Content Placeholder 3" descr="Brendan Eich - Wikipedia">
            <a:extLst>
              <a:ext uri="{FF2B5EF4-FFF2-40B4-BE49-F238E27FC236}">
                <a16:creationId xmlns:a16="http://schemas.microsoft.com/office/drawing/2014/main" id="{1C8125DB-ED1C-DE48-7941-0BE804C060C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689294" y="1862319"/>
            <a:ext cx="4329856" cy="4329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3FAA7-52F8-DF3A-78EC-8F4E4C427AC0}"/>
              </a:ext>
            </a:extLst>
          </p:cNvPr>
          <p:cNvSpPr txBox="1"/>
          <p:nvPr/>
        </p:nvSpPr>
        <p:spPr>
          <a:xfrm>
            <a:off x="2337779" y="1379916"/>
            <a:ext cx="4329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8D7"/>
                </a:solidFill>
                <a:highlight>
                  <a:srgbClr val="FFFF00"/>
                </a:highlight>
              </a:rPr>
              <a:t>FOUNDER - </a:t>
            </a:r>
            <a:r>
              <a:rPr lang="en-IN" sz="2800" b="1" dirty="0">
                <a:solidFill>
                  <a:srgbClr val="0078D7"/>
                </a:solidFill>
                <a:highlight>
                  <a:srgbClr val="FFFF00"/>
                </a:highlight>
              </a:rPr>
              <a:t>Brendan Eich</a:t>
            </a:r>
            <a:r>
              <a:rPr lang="en-IN" sz="2800" dirty="0">
                <a:solidFill>
                  <a:srgbClr val="0078D7"/>
                </a:solidFill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800A1-4C3E-2C06-2AE3-BA2B2DDFBC23}"/>
              </a:ext>
            </a:extLst>
          </p:cNvPr>
          <p:cNvSpPr txBox="1"/>
          <p:nvPr/>
        </p:nvSpPr>
        <p:spPr>
          <a:xfrm>
            <a:off x="1838633" y="2592427"/>
            <a:ext cx="56928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002060"/>
                </a:solidFill>
              </a:rPr>
              <a:t>1995 – Created in Just 10 Days :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highlight>
                  <a:srgbClr val="FFFF00"/>
                </a:highlight>
              </a:rPr>
              <a:t>Brendan Eich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created JavaScript in </a:t>
            </a:r>
            <a:r>
              <a:rPr lang="en-IN" sz="2800" b="1" dirty="0">
                <a:solidFill>
                  <a:srgbClr val="002060"/>
                </a:solidFill>
                <a:highlight>
                  <a:srgbClr val="FFFF00"/>
                </a:highlight>
              </a:rPr>
              <a:t>May 1995</a:t>
            </a:r>
            <a:r>
              <a:rPr lang="en-IN" sz="2800" dirty="0">
                <a:solidFill>
                  <a:srgbClr val="002060"/>
                </a:solidFill>
                <a:highlight>
                  <a:srgbClr val="FFFF00"/>
                </a:highlight>
              </a:rPr>
              <a:t> </a:t>
            </a:r>
            <a:r>
              <a:rPr lang="en-IN" sz="2800" dirty="0"/>
              <a:t>while working at Netscape.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It was </a:t>
            </a:r>
            <a:r>
              <a:rPr lang="en-IN" sz="2800" dirty="0">
                <a:highlight>
                  <a:srgbClr val="FFFF00"/>
                </a:highlight>
              </a:rPr>
              <a:t>built in just </a:t>
            </a:r>
            <a:r>
              <a:rPr lang="en-IN" sz="2800" b="1" dirty="0">
                <a:highlight>
                  <a:srgbClr val="FFFF00"/>
                </a:highlight>
              </a:rPr>
              <a:t>10 days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to make web pages interactive.</a:t>
            </a:r>
          </a:p>
        </p:txBody>
      </p:sp>
    </p:spTree>
    <p:extLst>
      <p:ext uri="{BB962C8B-B14F-4D97-AF65-F5344CB8AC3E}">
        <p14:creationId xmlns:p14="http://schemas.microsoft.com/office/powerpoint/2010/main" val="138321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D3EB-C92C-82C2-2651-D93FC77E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F9C18-2D58-2E49-E4DC-4341D344BA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251016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1995 – Name Changes :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first name was </a:t>
            </a:r>
            <a:r>
              <a:rPr lang="en-IN" sz="2800" b="1" dirty="0"/>
              <a:t>Mocha</a:t>
            </a:r>
            <a:r>
              <a:rPr lang="en-IN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Renamed to </a:t>
            </a:r>
            <a:r>
              <a:rPr lang="en-IN" sz="2800" b="1" dirty="0" err="1"/>
              <a:t>LiveScript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In </a:t>
            </a:r>
            <a:r>
              <a:rPr lang="en-IN" sz="2800" b="1" dirty="0"/>
              <a:t>December 1995 : </a:t>
            </a:r>
            <a:r>
              <a:rPr lang="en-IN" sz="2800" dirty="0"/>
              <a:t>finally named </a:t>
            </a:r>
            <a:r>
              <a:rPr lang="en-IN" sz="2800" b="1" dirty="0"/>
              <a:t>JavaScript</a:t>
            </a:r>
            <a:r>
              <a:rPr lang="en-IN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	[advantage of the popularity of the </a:t>
            </a:r>
            <a:r>
              <a:rPr lang="en-IN" sz="2800" b="1" dirty="0"/>
              <a:t>Java</a:t>
            </a:r>
            <a:r>
              <a:rPr lang="en-IN" sz="2800" dirty="0"/>
              <a:t> language at that 	time]</a:t>
            </a:r>
          </a:p>
        </p:txBody>
      </p:sp>
    </p:spTree>
    <p:extLst>
      <p:ext uri="{BB962C8B-B14F-4D97-AF65-F5344CB8AC3E}">
        <p14:creationId xmlns:p14="http://schemas.microsoft.com/office/powerpoint/2010/main" val="230112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E902-B61E-27A0-5295-F68D108D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8F4C2-D3F5-D2DD-38BC-D86A9012C1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86822" y="1749552"/>
            <a:ext cx="10076688" cy="4389120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1997 – ECMAScript Standard :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Netscape submitted JavaScript to </a:t>
            </a:r>
            <a:r>
              <a:rPr lang="en-IN" sz="2800" b="1" dirty="0">
                <a:highlight>
                  <a:srgbClr val="FFFF00"/>
                </a:highlight>
              </a:rPr>
              <a:t>ECMA International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to </a:t>
            </a:r>
            <a:r>
              <a:rPr lang="en-IN" sz="2800" dirty="0">
                <a:highlight>
                  <a:srgbClr val="FFFF00"/>
                </a:highlight>
              </a:rPr>
              <a:t>create a standard format</a:t>
            </a:r>
            <a:r>
              <a:rPr lang="en-IN" sz="28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This standard version became </a:t>
            </a:r>
            <a:r>
              <a:rPr lang="en-IN" sz="2800" dirty="0">
                <a:highlight>
                  <a:srgbClr val="FFFF00"/>
                </a:highlight>
              </a:rPr>
              <a:t>known as </a:t>
            </a:r>
            <a:r>
              <a:rPr lang="en-IN" sz="2800" b="1" dirty="0">
                <a:highlight>
                  <a:srgbClr val="FFFF00"/>
                </a:highlight>
              </a:rPr>
              <a:t>ECMAScript (ES)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so that all web browsers could run it smoothly.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6875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C655-BCD6-DFE8-71AF-D967E30B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77553"/>
            <a:ext cx="11311128" cy="640080"/>
          </a:xfrm>
        </p:spPr>
        <p:txBody>
          <a:bodyPr/>
          <a:lstStyle/>
          <a:p>
            <a:r>
              <a:rPr lang="en-US" dirty="0"/>
              <a:t>HISTORY OF JAVASCRIPT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1DDB-C945-B59B-0F26-F21D454593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847874"/>
            <a:ext cx="10076688" cy="4389120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2005 – AJAX Revolution :</a:t>
            </a:r>
          </a:p>
          <a:p>
            <a:endParaRPr lang="en-IN" sz="2800" b="1" u="sng" dirty="0">
              <a:solidFill>
                <a:srgbClr val="002060"/>
              </a:solidFill>
            </a:endParaRPr>
          </a:p>
          <a:p>
            <a:r>
              <a:rPr lang="en-IN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AJAX</a:t>
            </a:r>
            <a:r>
              <a:rPr lang="en-IN" sz="2800" dirty="0">
                <a:solidFill>
                  <a:schemeClr val="tx1"/>
                </a:solidFill>
                <a:highlight>
                  <a:srgbClr val="FFFF00"/>
                </a:highlight>
              </a:rPr>
              <a:t> (Asynchronous JavaScript and XML) </a:t>
            </a:r>
            <a:r>
              <a:rPr lang="en-IN" sz="2800" dirty="0"/>
              <a:t>was introduced.</a:t>
            </a:r>
          </a:p>
          <a:p>
            <a:endParaRPr lang="en-IN" sz="2800" dirty="0"/>
          </a:p>
          <a:p>
            <a:r>
              <a:rPr lang="en-IN" sz="2800" dirty="0"/>
              <a:t>It allowed </a:t>
            </a:r>
            <a:r>
              <a:rPr lang="en-IN" sz="2800" dirty="0">
                <a:highlight>
                  <a:srgbClr val="FFFF00"/>
                </a:highlight>
              </a:rPr>
              <a:t>web pages to update data </a:t>
            </a:r>
            <a:r>
              <a:rPr lang="en-IN" sz="2800" dirty="0"/>
              <a:t>in the background </a:t>
            </a:r>
            <a:r>
              <a:rPr lang="en-IN" sz="2800" dirty="0">
                <a:highlight>
                  <a:srgbClr val="FFFF00"/>
                </a:highlight>
              </a:rPr>
              <a:t>without refreshing </a:t>
            </a:r>
            <a:r>
              <a:rPr lang="en-IN" sz="2800" dirty="0"/>
              <a:t>the whole page (e.g., Gmail, Google Maps).</a:t>
            </a:r>
          </a:p>
          <a:p>
            <a:endParaRPr lang="en-IN" sz="2800" b="1" u="sng" dirty="0">
              <a:solidFill>
                <a:srgbClr val="002060"/>
              </a:solidFill>
            </a:endParaRPr>
          </a:p>
          <a:p>
            <a:endParaRPr lang="en-IN" sz="28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1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83E9-D3C9-64E9-9A40-850FAA07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6646D-D390-1D00-DD73-9CF0E2A51A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2020824"/>
            <a:ext cx="10076688" cy="438912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2009 – Node.js :</a:t>
            </a:r>
          </a:p>
          <a:p>
            <a:endParaRPr lang="en-IN" sz="2800" dirty="0"/>
          </a:p>
          <a:p>
            <a:r>
              <a:rPr lang="en-IN" sz="2800" dirty="0"/>
              <a:t>Ryan Dahl created </a:t>
            </a:r>
            <a:r>
              <a:rPr lang="en-IN" sz="2800" b="1" dirty="0">
                <a:highlight>
                  <a:srgbClr val="FFFF00"/>
                </a:highlight>
              </a:rPr>
              <a:t>Node.js</a:t>
            </a:r>
            <a:r>
              <a:rPr lang="en-IN" sz="2800" dirty="0">
                <a:highlight>
                  <a:srgbClr val="FFFF00"/>
                </a:highlight>
              </a:rPr>
              <a:t>, </a:t>
            </a:r>
            <a:r>
              <a:rPr lang="en-IN" sz="2800" dirty="0"/>
              <a:t>allowing developers to run JavaScript on the server side (backend) outside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284805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A57A-7497-D8A5-CF2A-64251E69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CE5D-7F9D-69B0-FF7E-70872E3547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415255"/>
            <a:ext cx="10076688" cy="438912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2015 – ES6 Update:</a:t>
            </a:r>
          </a:p>
          <a:p>
            <a:endParaRPr lang="en-IN" sz="2800" dirty="0"/>
          </a:p>
          <a:p>
            <a:pPr lvl="0"/>
            <a:r>
              <a:rPr lang="en-IN" sz="2800" b="1" dirty="0">
                <a:highlight>
                  <a:srgbClr val="FFFF00"/>
                </a:highlight>
              </a:rPr>
              <a:t>ECMAScript 2015 (ES6)</a:t>
            </a:r>
            <a:r>
              <a:rPr lang="en-IN" sz="2800" dirty="0">
                <a:highlight>
                  <a:srgbClr val="FFFF00"/>
                </a:highlight>
              </a:rPr>
              <a:t> was released </a:t>
            </a:r>
            <a:r>
              <a:rPr lang="en-IN" sz="2800" dirty="0"/>
              <a:t>with major features like let , </a:t>
            </a:r>
            <a:r>
              <a:rPr lang="en-IN" sz="2800" dirty="0" err="1"/>
              <a:t>const</a:t>
            </a:r>
            <a:r>
              <a:rPr lang="en-IN" sz="2800" dirty="0"/>
              <a:t> , arrow functions, classes, and promises.</a:t>
            </a:r>
          </a:p>
          <a:p>
            <a:pPr lvl="0"/>
            <a:endParaRPr lang="en-IN" sz="2800" dirty="0"/>
          </a:p>
          <a:p>
            <a:pPr lvl="0"/>
            <a:r>
              <a:rPr lang="en-IN" sz="2800" dirty="0"/>
              <a:t>Since 2015, JavaScript gets updated </a:t>
            </a:r>
            <a:r>
              <a:rPr lang="en-IN" sz="2800" dirty="0">
                <a:highlight>
                  <a:srgbClr val="FFFF00"/>
                </a:highlight>
              </a:rPr>
              <a:t>every year with new features</a:t>
            </a:r>
            <a:r>
              <a:rPr lang="en-IN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4383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5891-9CD3-84EB-8ECD-E57E3885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754C-CAC9-2804-B11E-E15B9160C6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33950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LIGHT WEIGHTED &amp; INTERPRETED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RUNS IN BROWSER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SUPPORT ALL MORDEN BROWSER </a:t>
            </a:r>
          </a:p>
          <a:p>
            <a:endParaRPr lang="en-US" sz="2800" dirty="0"/>
          </a:p>
          <a:p>
            <a:pPr lvl="2"/>
            <a:r>
              <a:rPr lang="en-US" sz="2800" dirty="0"/>
              <a:t>	[	COMPILER : CHECK WHOLE CODE AT A ONE TIME AND THEN GIVING THE ERRORS . </a:t>
            </a:r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	INTERPRETTER : CHECK CODE LINE BY LINE AND THEN GIVING THE ERRORS  ]</a:t>
            </a:r>
          </a:p>
          <a:p>
            <a:r>
              <a:rPr lang="en-US" sz="2800" dirty="0"/>
              <a:t>	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84562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2994-0F07-042C-F380-683027E3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Your First JavaScript Code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B057-D15E-CE6A-9D8D-5B98B79FAE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1"/>
            <a:ext cx="10076688" cy="531000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u="sng" dirty="0">
                <a:highlight>
                  <a:srgbClr val="00FF00"/>
                </a:highlight>
              </a:rPr>
              <a:t>console.log() :- </a:t>
            </a:r>
          </a:p>
          <a:p>
            <a:endParaRPr lang="en-IN" sz="2800" b="1" u="sng" dirty="0">
              <a:highlight>
                <a:srgbClr val="00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console.log()</a:t>
            </a:r>
            <a:r>
              <a:rPr lang="en-IN" sz="4400" dirty="0"/>
              <a:t> </a:t>
            </a:r>
            <a:r>
              <a:rPr lang="en-IN" sz="2800" dirty="0"/>
              <a:t>is a built-in </a:t>
            </a:r>
            <a:r>
              <a:rPr lang="en-IN" sz="2800" dirty="0">
                <a:highlight>
                  <a:srgbClr val="FFFF00"/>
                </a:highlight>
              </a:rPr>
              <a:t>JavaScript function </a:t>
            </a:r>
            <a:r>
              <a:rPr lang="en-IN" sz="2800" dirty="0"/>
              <a:t>used to </a:t>
            </a:r>
            <a:r>
              <a:rPr lang="en-IN" sz="2800" b="1" dirty="0">
                <a:highlight>
                  <a:srgbClr val="FFFF00"/>
                </a:highlight>
              </a:rPr>
              <a:t>print messages, variable values, or calculation results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to the browser's Developer Console.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u="sng" dirty="0">
              <a:highlight>
                <a:srgbClr val="00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Think of it as JavaScript's </a:t>
            </a:r>
            <a:r>
              <a:rPr lang="en-IN" sz="2800" b="1" dirty="0"/>
              <a:t>secret printer</a:t>
            </a:r>
            <a:r>
              <a:rPr lang="en-IN" sz="2800" dirty="0"/>
              <a:t> or </a:t>
            </a:r>
            <a:r>
              <a:rPr lang="en-IN" sz="2800" b="1" dirty="0"/>
              <a:t>output window</a:t>
            </a:r>
            <a:r>
              <a:rPr lang="en-IN" sz="2800" dirty="0"/>
              <a:t> that allows you to see what is happening inside your code.</a:t>
            </a:r>
          </a:p>
          <a:p>
            <a:r>
              <a:rPr lang="en-IN" sz="2800" b="1" u="sng" dirty="0">
                <a:highlight>
                  <a:srgbClr val="00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4980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041D-7C32-45E6-1E2E-995692CC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Syntax &amp; Uses  </a:t>
            </a:r>
            <a:r>
              <a:rPr lang="en-IN" dirty="0"/>
              <a:t>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F548-82A5-3A1F-4806-D1D34A28E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26084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highlight>
                  <a:srgbClr val="FFFF00"/>
                </a:highlight>
              </a:rPr>
              <a:t>console.log(“ HELLO WORLD !!! ”);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highlight>
                  <a:srgbClr val="FFFF00"/>
                </a:highlight>
              </a:rPr>
              <a:t>console.log(10 + 20);</a:t>
            </a:r>
            <a:endParaRPr lang="en-IN" sz="2800" b="1" dirty="0">
              <a:highlight>
                <a:srgbClr val="FFFF00"/>
              </a:highlight>
            </a:endParaRPr>
          </a:p>
          <a:p>
            <a:endParaRPr lang="en-IN" sz="28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u="sng" dirty="0">
                <a:highlight>
                  <a:srgbClr val="00FF00"/>
                </a:highlight>
              </a:rPr>
              <a:t>Main Uses :- </a:t>
            </a:r>
          </a:p>
          <a:p>
            <a:endParaRPr lang="en-IN" sz="2800" b="1" dirty="0">
              <a:highlight>
                <a:srgbClr val="FFFF00"/>
              </a:highlight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Display Output:</a:t>
            </a:r>
            <a:r>
              <a:rPr lang="en-IN" sz="2800" dirty="0"/>
              <a:t> To see the results of your code on screen.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Debugging:</a:t>
            </a:r>
            <a:r>
              <a:rPr lang="en-IN" sz="2800" dirty="0"/>
              <a:t> To find and fix errors in your code by checking where things might be going wrong.</a:t>
            </a:r>
          </a:p>
          <a:p>
            <a:endParaRPr lang="en-IN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195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2C77-048D-FAE3-88D2-0E11A99C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IN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8D709-A697-EA0A-1E4D-617A4E93F7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40310" y="1946787"/>
            <a:ext cx="10092026" cy="473914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PART OF CODE WHICH IS NOT EXECUTED . 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endParaRPr lang="en-IN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608822-A714-FC02-B342-729397F13FAF}"/>
              </a:ext>
            </a:extLst>
          </p:cNvPr>
          <p:cNvSpPr/>
          <p:nvPr/>
        </p:nvSpPr>
        <p:spPr>
          <a:xfrm>
            <a:off x="1860755" y="3028335"/>
            <a:ext cx="6233651" cy="2821858"/>
          </a:xfrm>
          <a:prstGeom prst="roundRect">
            <a:avLst/>
          </a:prstGeom>
          <a:ln w="76200" cmpd="sng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// THIS IS A SINGLE LINE COMMENT</a:t>
            </a:r>
          </a:p>
          <a:p>
            <a:pPr algn="ctr"/>
            <a:endParaRPr lang="en-US" sz="2800" dirty="0">
              <a:solidFill>
                <a:srgbClr val="00B050"/>
              </a:solidFill>
            </a:endParaRPr>
          </a:p>
          <a:p>
            <a:r>
              <a:rPr lang="en-US" sz="2800" dirty="0">
                <a:solidFill>
                  <a:srgbClr val="00B050"/>
                </a:solidFill>
              </a:rPr>
              <a:t>/* THIS IS MULTI-LINE</a:t>
            </a:r>
          </a:p>
          <a:p>
            <a:r>
              <a:rPr lang="en-US" sz="2800" dirty="0">
                <a:solidFill>
                  <a:srgbClr val="00B050"/>
                </a:solidFill>
              </a:rPr>
              <a:t> COMMENT */</a:t>
            </a:r>
            <a:endParaRPr lang="en-IN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5E98-9088-7755-B23B-88467369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ADDE-3046-48B0-EA18-842DEDE3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</a:t>
            </a:r>
            <a:r>
              <a:rPr lang="en-IN" dirty="0"/>
              <a:t>Ways to Write JavaScript in HTML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7D7-E4BB-B9BD-676A-FFA1857BED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2762275"/>
            <a:ext cx="10076688" cy="4389120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Inline JavaScript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Internal JavaScript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External JavaScript</a:t>
            </a:r>
          </a:p>
          <a:p>
            <a:pPr marL="514350" lvl="0" indent="-514350">
              <a:buFont typeface="+mj-lt"/>
              <a:buAutoNum type="arabicPeriod"/>
            </a:pPr>
            <a:endParaRPr lang="en-IN" sz="2800" b="1" dirty="0"/>
          </a:p>
          <a:p>
            <a:pPr lvl="0"/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884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E3908-D628-413B-9C99-C42544D6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7993-29AE-858A-4474-C0352E97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Inline JavaScript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8494-EBBF-2D95-C451-9AFB2B1BA7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838042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Inline JavaScript is written directly inside an HTML element's tag using event attributes (like onclick</a:t>
            </a:r>
            <a:r>
              <a:rPr lang="en-IN" sz="4400" dirty="0"/>
              <a:t>, </a:t>
            </a:r>
            <a:r>
              <a:rPr lang="en-IN" sz="2800" dirty="0" err="1"/>
              <a:t>onmouseover</a:t>
            </a:r>
            <a:r>
              <a:rPr lang="en-IN" sz="4400" dirty="0"/>
              <a:t>, </a:t>
            </a:r>
            <a:r>
              <a:rPr lang="en-IN" sz="2800" dirty="0"/>
              <a:t>etc.).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When to use:</a:t>
            </a:r>
            <a:r>
              <a:rPr lang="en-IN" sz="2800" dirty="0"/>
              <a:t> For very small, single-line actions on a specific HTML element.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&lt;element </a:t>
            </a:r>
            <a:r>
              <a:rPr lang="en-IN" sz="2800" b="1" dirty="0">
                <a:highlight>
                  <a:srgbClr val="FFFF00"/>
                </a:highlight>
              </a:rPr>
              <a:t>event="JavaScript Code"</a:t>
            </a:r>
            <a:r>
              <a:rPr lang="en-IN" sz="2800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6033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312B-4EFE-DDCB-C901-AD383222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6C149-2C3E-5D7C-212E-5D225FDE87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Internal JavaScript is written inside the </a:t>
            </a:r>
            <a:r>
              <a:rPr lang="en-IN" dirty="0"/>
              <a:t>&lt;script&gt;</a:t>
            </a:r>
            <a:r>
              <a:rPr lang="en-IN" sz="2800" dirty="0"/>
              <a:t> tag within the same HTML file. The </a:t>
            </a:r>
            <a:r>
              <a:rPr lang="en-IN" dirty="0"/>
              <a:t>&lt;script&gt;</a:t>
            </a:r>
            <a:r>
              <a:rPr lang="en-IN" sz="2800" dirty="0"/>
              <a:t> tag can be placed in either the </a:t>
            </a:r>
            <a:r>
              <a:rPr lang="en-IN" dirty="0"/>
              <a:t>&lt;body&gt;</a:t>
            </a:r>
            <a:r>
              <a:rPr lang="en-IN" sz="2800" dirty="0"/>
              <a:t> section.</a:t>
            </a:r>
          </a:p>
          <a:p>
            <a:endParaRPr lang="en-IN" sz="2800" dirty="0"/>
          </a:p>
          <a:p>
            <a:r>
              <a:rPr lang="en-IN" sz="2800" b="1" dirty="0">
                <a:highlight>
                  <a:srgbClr val="FFFF00"/>
                </a:highlight>
              </a:rPr>
              <a:t>&lt;script&gt; </a:t>
            </a:r>
          </a:p>
          <a:p>
            <a:r>
              <a:rPr lang="en-IN" sz="2800" b="1" dirty="0">
                <a:highlight>
                  <a:srgbClr val="FFFF00"/>
                </a:highlight>
              </a:rPr>
              <a:t>	// JavaScript code goes here </a:t>
            </a:r>
          </a:p>
          <a:p>
            <a:r>
              <a:rPr lang="en-IN" sz="2800" b="1" dirty="0">
                <a:highlight>
                  <a:srgbClr val="FFFF00"/>
                </a:highlight>
              </a:rPr>
              <a:t>&lt;/script&gt;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00279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D042-4318-FCDC-D5C1-B43CA394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B30BA-64EE-96B5-4490-9B737DC71C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25101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External JavaScript involves writing the code in a separate file with a </a:t>
            </a:r>
            <a:r>
              <a:rPr lang="en-IN" sz="4400" dirty="0"/>
              <a:t> </a:t>
            </a:r>
            <a:r>
              <a:rPr lang="en-IN" sz="2800" b="1" dirty="0">
                <a:highlight>
                  <a:srgbClr val="FFFF00"/>
                </a:highlight>
              </a:rPr>
              <a:t>.</a:t>
            </a:r>
            <a:r>
              <a:rPr lang="en-IN" sz="2800" b="1" dirty="0" err="1">
                <a:highlight>
                  <a:srgbClr val="FFFF00"/>
                </a:highlight>
              </a:rPr>
              <a:t>js</a:t>
            </a:r>
            <a:r>
              <a:rPr lang="en-IN" sz="4400" dirty="0">
                <a:highlight>
                  <a:srgbClr val="FFFF00"/>
                </a:highlight>
              </a:rPr>
              <a:t> </a:t>
            </a:r>
            <a:r>
              <a:rPr lang="en-IN" sz="2800" dirty="0">
                <a:highlight>
                  <a:srgbClr val="FFFF00"/>
                </a:highlight>
              </a:rPr>
              <a:t>extension </a:t>
            </a:r>
            <a:r>
              <a:rPr lang="en-IN" sz="2800" dirty="0"/>
              <a:t>and linking it to the HTML file using the </a:t>
            </a:r>
            <a:r>
              <a:rPr lang="en-IN" sz="2800" b="1" dirty="0">
                <a:highlight>
                  <a:srgbClr val="FFFF00"/>
                </a:highlight>
              </a:rPr>
              <a:t>&lt;script </a:t>
            </a:r>
            <a:r>
              <a:rPr lang="en-IN" sz="2800" b="1" dirty="0" err="1">
                <a:highlight>
                  <a:srgbClr val="FFFF00"/>
                </a:highlight>
              </a:rPr>
              <a:t>src</a:t>
            </a:r>
            <a:r>
              <a:rPr lang="en-IN" sz="2800" b="1" dirty="0">
                <a:highlight>
                  <a:srgbClr val="FFFF00"/>
                </a:highlight>
              </a:rPr>
              <a:t>="filename.js"&gt;&lt;/script&gt;</a:t>
            </a:r>
            <a:r>
              <a:rPr lang="en-IN" sz="4400" b="1" dirty="0"/>
              <a:t> </a:t>
            </a:r>
            <a:r>
              <a:rPr lang="en-IN" sz="2800" dirty="0"/>
              <a:t>tag.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When to use:</a:t>
            </a:r>
            <a:r>
              <a:rPr lang="en-IN" sz="2800" dirty="0"/>
              <a:t> For professional web development and multi-page websites.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&lt;script </a:t>
            </a:r>
            <a:r>
              <a:rPr lang="en-IN" sz="2800" dirty="0" err="1"/>
              <a:t>src</a:t>
            </a:r>
            <a:r>
              <a:rPr lang="en-IN" sz="2800" dirty="0"/>
              <a:t>="script.js"&gt;&lt;/script&gt;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835401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1F33-48C0-05F9-69F7-CEFBE621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544EE-07BB-FD30-0A72-87F8580503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113364"/>
          </a:xfrm>
        </p:spPr>
        <p:txBody>
          <a:bodyPr>
            <a:normAutofit/>
          </a:bodyPr>
          <a:lstStyle/>
          <a:p>
            <a:r>
              <a:rPr lang="en-US" sz="2800" dirty="0"/>
              <a:t>Variables are containers  of data .</a:t>
            </a:r>
            <a:endParaRPr lang="en-IN" sz="2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A07211-CA9E-9E44-DE0C-3C60FC7A90EA}"/>
              </a:ext>
            </a:extLst>
          </p:cNvPr>
          <p:cNvSpPr/>
          <p:nvPr/>
        </p:nvSpPr>
        <p:spPr>
          <a:xfrm>
            <a:off x="1960993" y="2757014"/>
            <a:ext cx="9459714" cy="29300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48BD82-5C65-206D-2D14-04BAA8FAAD77}"/>
              </a:ext>
            </a:extLst>
          </p:cNvPr>
          <p:cNvSpPr/>
          <p:nvPr/>
        </p:nvSpPr>
        <p:spPr>
          <a:xfrm>
            <a:off x="2509213" y="3495368"/>
            <a:ext cx="2222090" cy="1984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14</a:t>
            </a:r>
            <a:endParaRPr lang="en-IN" sz="4000" b="1" dirty="0">
              <a:solidFill>
                <a:schemeClr val="accent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6D9E09-2C29-0CF6-9A9A-0264502CBFAA}"/>
              </a:ext>
            </a:extLst>
          </p:cNvPr>
          <p:cNvSpPr/>
          <p:nvPr/>
        </p:nvSpPr>
        <p:spPr>
          <a:xfrm>
            <a:off x="5540477" y="3495368"/>
            <a:ext cx="2222090" cy="1984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E9D053-ECCA-50C5-3C2A-24F9EF8C4776}"/>
              </a:ext>
            </a:extLst>
          </p:cNvPr>
          <p:cNvSpPr/>
          <p:nvPr/>
        </p:nvSpPr>
        <p:spPr>
          <a:xfrm>
            <a:off x="8571742" y="3495368"/>
            <a:ext cx="2222090" cy="1984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86F3E5-8B7A-1608-9EDB-B0EECADF1F3D}"/>
              </a:ext>
            </a:extLst>
          </p:cNvPr>
          <p:cNvSpPr txBox="1"/>
          <p:nvPr/>
        </p:nvSpPr>
        <p:spPr>
          <a:xfrm>
            <a:off x="2842984" y="2910593"/>
            <a:ext cx="235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Radius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70E455-8786-BFE1-99D3-3307E4A635AE}"/>
              </a:ext>
            </a:extLst>
          </p:cNvPr>
          <p:cNvSpPr txBox="1"/>
          <p:nvPr/>
        </p:nvSpPr>
        <p:spPr>
          <a:xfrm>
            <a:off x="6046837" y="5782032"/>
            <a:ext cx="343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Memory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356143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A60D-0C40-160C-7135-EF4E1222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DECLARATIONS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4399E-B7C3-3393-7744-AB738DFD7A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976284"/>
            <a:ext cx="10076688" cy="4758812"/>
          </a:xfrm>
        </p:spPr>
        <p:txBody>
          <a:bodyPr>
            <a:normAutofit/>
          </a:bodyPr>
          <a:lstStyle/>
          <a:p>
            <a:r>
              <a:rPr lang="en-US" sz="2800" dirty="0"/>
              <a:t>THREE TYPES OF VARIABLE DECLARATIONS :-</a:t>
            </a:r>
          </a:p>
          <a:p>
            <a:r>
              <a:rPr lang="en-US" sz="2800" dirty="0"/>
              <a:t>		VAR , LET , CONST 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VAR [ OLD TYPE ] : </a:t>
            </a:r>
            <a:r>
              <a:rPr lang="en-US" sz="2800" dirty="0">
                <a:highlight>
                  <a:srgbClr val="FFFF00"/>
                </a:highlight>
              </a:rPr>
              <a:t>Re-Declare</a:t>
            </a:r>
            <a:r>
              <a:rPr lang="en-US" sz="2800" dirty="0"/>
              <a:t> &amp; </a:t>
            </a:r>
            <a:r>
              <a:rPr lang="en-US" sz="2800" dirty="0">
                <a:highlight>
                  <a:srgbClr val="FFFF00"/>
                </a:highlight>
              </a:rPr>
              <a:t>Updated</a:t>
            </a:r>
            <a:r>
              <a:rPr lang="en-US" sz="2800" dirty="0"/>
              <a:t> 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LET : </a:t>
            </a:r>
            <a:r>
              <a:rPr lang="en-US" sz="2800" dirty="0">
                <a:highlight>
                  <a:srgbClr val="FFFF00"/>
                </a:highlight>
              </a:rPr>
              <a:t>Updated</a:t>
            </a:r>
            <a:r>
              <a:rPr lang="en-US" sz="2800" dirty="0"/>
              <a:t> But </a:t>
            </a:r>
            <a:r>
              <a:rPr lang="en-US" sz="2800" dirty="0">
                <a:highlight>
                  <a:srgbClr val="FFFF00"/>
                </a:highlight>
              </a:rPr>
              <a:t>Not Re-Declare </a:t>
            </a:r>
            <a:r>
              <a:rPr lang="en-US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Const [Fixed ] : </a:t>
            </a:r>
            <a:r>
              <a:rPr lang="en-US" sz="2800" dirty="0">
                <a:highlight>
                  <a:srgbClr val="FFFF00"/>
                </a:highlight>
              </a:rPr>
              <a:t>No Update </a:t>
            </a:r>
            <a:r>
              <a:rPr lang="en-US" sz="2800" dirty="0"/>
              <a:t>and </a:t>
            </a:r>
            <a:r>
              <a:rPr lang="en-US" sz="2800" dirty="0">
                <a:highlight>
                  <a:srgbClr val="FFFF00"/>
                </a:highlight>
              </a:rPr>
              <a:t>No Re-Declare </a:t>
            </a:r>
            <a:r>
              <a:rPr lang="en-US" sz="2800" dirty="0"/>
              <a:t>.    </a:t>
            </a:r>
          </a:p>
          <a:p>
            <a:r>
              <a:rPr lang="en-US" sz="2800" dirty="0"/>
              <a:t>	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345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B9CA-79B5-455C-2D4F-5797F102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 </a:t>
            </a:r>
            <a:r>
              <a:rPr lang="en-US" dirty="0" err="1"/>
              <a:t>Comparision</a:t>
            </a:r>
            <a:r>
              <a:rPr lang="en-US" dirty="0"/>
              <a:t> :-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65EC3CD-4BE6-2A9E-76F6-87556C48DE8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66682084"/>
              </p:ext>
            </p:extLst>
          </p:nvPr>
        </p:nvGraphicFramePr>
        <p:xfrm>
          <a:off x="1754876" y="2653991"/>
          <a:ext cx="10077460" cy="223264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15492">
                  <a:extLst>
                    <a:ext uri="{9D8B030D-6E8A-4147-A177-3AD203B41FA5}">
                      <a16:colId xmlns:a16="http://schemas.microsoft.com/office/drawing/2014/main" val="202186129"/>
                    </a:ext>
                  </a:extLst>
                </a:gridCol>
                <a:gridCol w="2015492">
                  <a:extLst>
                    <a:ext uri="{9D8B030D-6E8A-4147-A177-3AD203B41FA5}">
                      <a16:colId xmlns:a16="http://schemas.microsoft.com/office/drawing/2014/main" val="3932417510"/>
                    </a:ext>
                  </a:extLst>
                </a:gridCol>
                <a:gridCol w="2015492">
                  <a:extLst>
                    <a:ext uri="{9D8B030D-6E8A-4147-A177-3AD203B41FA5}">
                      <a16:colId xmlns:a16="http://schemas.microsoft.com/office/drawing/2014/main" val="312486426"/>
                    </a:ext>
                  </a:extLst>
                </a:gridCol>
                <a:gridCol w="2015492">
                  <a:extLst>
                    <a:ext uri="{9D8B030D-6E8A-4147-A177-3AD203B41FA5}">
                      <a16:colId xmlns:a16="http://schemas.microsoft.com/office/drawing/2014/main" val="3384578543"/>
                    </a:ext>
                  </a:extLst>
                </a:gridCol>
                <a:gridCol w="2015492">
                  <a:extLst>
                    <a:ext uri="{9D8B030D-6E8A-4147-A177-3AD203B41FA5}">
                      <a16:colId xmlns:a16="http://schemas.microsoft.com/office/drawing/2014/main" val="3862377848"/>
                    </a:ext>
                  </a:extLst>
                </a:gridCol>
              </a:tblGrid>
              <a:tr h="411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RE-DECLARE ?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UPDATE ?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865978"/>
                  </a:ext>
                </a:extLst>
              </a:tr>
              <a:tr h="72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 redeclare &amp; update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416769"/>
                  </a:ext>
                </a:extLst>
              </a:tr>
              <a:tr h="5261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Only update value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 , 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59087"/>
                  </a:ext>
                </a:extLst>
              </a:tr>
              <a:tr h="5666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Value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 , Birth 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57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533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3F9E-4F15-0547-59C7-8FD786B3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C5D71-A7BC-76E8-F3E8-EE44B0A536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39413" y="2133010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/>
              <a:t>2 Data Types :</a:t>
            </a:r>
            <a:r>
              <a:rPr lang="en-US" sz="2800" dirty="0"/>
              <a:t> 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Primitive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Non-Primitive Data Types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32466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AEB9-2880-47DF-9CD5-CEA33EB3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2EDC0-2E23-2C10-CBB7-D8B3B26768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1"/>
            <a:ext cx="10076688" cy="5280513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Primitive data types store only </a:t>
            </a:r>
            <a:r>
              <a:rPr lang="en-IN" sz="2800" b="1" dirty="0">
                <a:highlight>
                  <a:srgbClr val="FFFF00"/>
                </a:highlight>
              </a:rPr>
              <a:t>one single value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inside a variable.</a:t>
            </a:r>
          </a:p>
          <a:p>
            <a:endParaRPr lang="en-IN" sz="2800" dirty="0"/>
          </a:p>
          <a:p>
            <a:r>
              <a:rPr lang="en-IN" sz="2800" b="1" u="sng" dirty="0"/>
              <a:t>7 Types :</a:t>
            </a:r>
          </a:p>
          <a:p>
            <a:endParaRPr lang="en-IN" sz="2800" b="1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Number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String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Boolean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Undefined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/>
              <a:t>Null</a:t>
            </a:r>
            <a:endParaRPr lang="en-IN" sz="2800" dirty="0"/>
          </a:p>
          <a:p>
            <a:pPr marL="514350" lvl="0" indent="-514350">
              <a:buFont typeface="+mj-lt"/>
              <a:buAutoNum type="arabicPeriod"/>
            </a:pPr>
            <a:r>
              <a:rPr lang="en-IN" sz="2800" b="1" dirty="0" err="1"/>
              <a:t>BigInt</a:t>
            </a:r>
            <a:endParaRPr lang="en-IN" sz="2800" b="1" dirty="0"/>
          </a:p>
          <a:p>
            <a:pPr marL="514350" indent="-514350">
              <a:buFont typeface="+mj-lt"/>
              <a:buAutoNum type="arabicPeriod"/>
            </a:pPr>
            <a:r>
              <a:rPr lang="en-IN" sz="2800" b="1" dirty="0"/>
              <a:t>Symbol</a:t>
            </a:r>
          </a:p>
          <a:p>
            <a:pPr marL="514350" lvl="0" indent="-514350">
              <a:buFont typeface="+mj-lt"/>
              <a:buAutoNum type="arabicPeriod"/>
            </a:pPr>
            <a:endParaRPr lang="en-IN" sz="2800" dirty="0"/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77292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9609-4804-83AC-B552-2AC105A3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CF1FF-C669-DF1C-6025-3488C2167E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2231333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store </a:t>
            </a:r>
            <a:r>
              <a:rPr lang="en-IN" sz="2800" dirty="0">
                <a:highlight>
                  <a:srgbClr val="FFFF00"/>
                </a:highlight>
              </a:rPr>
              <a:t>numeric values </a:t>
            </a:r>
            <a:r>
              <a:rPr lang="en-IN" sz="2800" dirty="0"/>
              <a:t>(both whole numbers and decimal points).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age = 15; </a:t>
            </a:r>
            <a:r>
              <a:rPr lang="en-IN" sz="2800" dirty="0"/>
              <a:t>// Whole number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price = 99.99; </a:t>
            </a:r>
            <a:r>
              <a:rPr lang="en-IN" sz="2800" dirty="0"/>
              <a:t>// Decimal number</a:t>
            </a:r>
          </a:p>
        </p:txBody>
      </p:sp>
    </p:spTree>
    <p:extLst>
      <p:ext uri="{BB962C8B-B14F-4D97-AF65-F5344CB8AC3E}">
        <p14:creationId xmlns:p14="http://schemas.microsoft.com/office/powerpoint/2010/main" val="606767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872E-FA7B-2DEE-89C7-73D7B92B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1138-BC7E-15BE-3CCF-E5E735D8C2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store text or characters. String values are always written inside </a:t>
            </a:r>
            <a:r>
              <a:rPr lang="en-IN" sz="2800" b="1" dirty="0"/>
              <a:t>Single Quotes (</a:t>
            </a:r>
            <a:r>
              <a:rPr lang="en-IN" b="1" dirty="0"/>
              <a:t>''</a:t>
            </a:r>
            <a:r>
              <a:rPr lang="en-IN" sz="2800" b="1" dirty="0"/>
              <a:t>)</a:t>
            </a:r>
            <a:r>
              <a:rPr lang="en-IN" sz="2800" dirty="0"/>
              <a:t> or </a:t>
            </a:r>
            <a:r>
              <a:rPr lang="en-IN" sz="2800" b="1" dirty="0"/>
              <a:t>Double Quotes (</a:t>
            </a:r>
            <a:r>
              <a:rPr lang="en-IN" b="1" dirty="0"/>
              <a:t>""</a:t>
            </a:r>
            <a:r>
              <a:rPr lang="en-IN" sz="2800" b="1" dirty="0"/>
              <a:t>)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let name = "Naiya";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let city = '</a:t>
            </a:r>
            <a:r>
              <a:rPr lang="en-US" sz="2800" b="1" dirty="0" err="1"/>
              <a:t>Himatnagar</a:t>
            </a:r>
            <a:r>
              <a:rPr lang="en-US" sz="2800" b="1"/>
              <a:t>’;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9044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FB78-B4F4-F606-B7B6-716EFCBF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16B5-4C3C-A2A1-BC3E-CA604C1125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916700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store only two logical values: </a:t>
            </a:r>
            <a:r>
              <a:rPr lang="en-IN" sz="2800" b="1" dirty="0">
                <a:highlight>
                  <a:srgbClr val="FFFF00"/>
                </a:highlight>
              </a:rPr>
              <a:t>TRUE</a:t>
            </a:r>
            <a:r>
              <a:rPr lang="en-IN" sz="2800" dirty="0">
                <a:highlight>
                  <a:srgbClr val="FFFF00"/>
                </a:highlight>
              </a:rPr>
              <a:t> or </a:t>
            </a:r>
            <a:r>
              <a:rPr lang="en-IN" sz="2800" b="1" dirty="0">
                <a:highlight>
                  <a:srgbClr val="FFFF00"/>
                </a:highlight>
              </a:rPr>
              <a:t>FALSE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. It helps in </a:t>
            </a:r>
            <a:r>
              <a:rPr lang="en-IN" sz="2800" dirty="0">
                <a:highlight>
                  <a:srgbClr val="FFFF00"/>
                </a:highlight>
              </a:rPr>
              <a:t>decision-making </a:t>
            </a:r>
            <a:r>
              <a:rPr lang="en-IN" sz="2800" dirty="0"/>
              <a:t>and </a:t>
            </a:r>
            <a:r>
              <a:rPr lang="en-IN" sz="2800" dirty="0">
                <a:highlight>
                  <a:srgbClr val="FFFF00"/>
                </a:highlight>
              </a:rPr>
              <a:t>conditions</a:t>
            </a:r>
            <a:r>
              <a:rPr lang="en-IN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</a:t>
            </a:r>
            <a:r>
              <a:rPr lang="en-IN" sz="2800" b="1" dirty="0" err="1"/>
              <a:t>isPassed</a:t>
            </a:r>
            <a:r>
              <a:rPr lang="en-IN" sz="2800" b="1" dirty="0"/>
              <a:t> = true;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</a:t>
            </a:r>
            <a:r>
              <a:rPr lang="en-IN" sz="2800" b="1" dirty="0" err="1"/>
              <a:t>isLoggedIn</a:t>
            </a:r>
            <a:r>
              <a:rPr lang="en-IN" sz="2800" b="1" dirty="0"/>
              <a:t> = false;</a:t>
            </a:r>
          </a:p>
        </p:txBody>
      </p:sp>
    </p:spTree>
    <p:extLst>
      <p:ext uri="{BB962C8B-B14F-4D97-AF65-F5344CB8AC3E}">
        <p14:creationId xmlns:p14="http://schemas.microsoft.com/office/powerpoint/2010/main" val="2783903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2673-10E6-A4C4-A265-90A961D2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8F38-CA36-CE37-D54E-961E25723F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2020824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When a variable is declared but </a:t>
            </a:r>
            <a:r>
              <a:rPr lang="en-IN" sz="2800" b="1" dirty="0">
                <a:highlight>
                  <a:srgbClr val="FFFF00"/>
                </a:highlight>
              </a:rPr>
              <a:t>no value is assigned</a:t>
            </a:r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to it, JavaScript automatically assigns undefined as its default value.</a:t>
            </a:r>
          </a:p>
          <a:p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let score;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console.log(score);</a:t>
            </a:r>
            <a:r>
              <a:rPr lang="en-US" sz="2800" dirty="0"/>
              <a:t>	 // Output: undefined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58250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6809-3CC7-AB00-920A-810D4460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A51B-059B-D705-4DF3-188F4AFC6E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31258" y="2468880"/>
            <a:ext cx="960365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intentionally represent an </a:t>
            </a:r>
            <a:r>
              <a:rPr lang="en-IN" sz="2800" b="1" dirty="0">
                <a:highlight>
                  <a:srgbClr val="FFFF00"/>
                </a:highlight>
              </a:rPr>
              <a:t>empty or non-existent value</a:t>
            </a:r>
            <a:r>
              <a:rPr lang="en-IN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</a:t>
            </a:r>
            <a:r>
              <a:rPr lang="en-IN" sz="2800" b="1" dirty="0" err="1"/>
              <a:t>userSelectedColor</a:t>
            </a:r>
            <a:r>
              <a:rPr lang="en-IN" sz="2800" b="1" dirty="0"/>
              <a:t> = null;</a:t>
            </a:r>
            <a:r>
              <a:rPr lang="en-IN" sz="2800" dirty="0"/>
              <a:t>	 // No </a:t>
            </a:r>
            <a:r>
              <a:rPr lang="en-IN" sz="2800" dirty="0" err="1"/>
              <a:t>color</a:t>
            </a:r>
            <a:r>
              <a:rPr lang="en-IN" sz="2800" dirty="0"/>
              <a:t> chosen yet</a:t>
            </a:r>
          </a:p>
        </p:txBody>
      </p:sp>
    </p:spTree>
    <p:extLst>
      <p:ext uri="{BB962C8B-B14F-4D97-AF65-F5344CB8AC3E}">
        <p14:creationId xmlns:p14="http://schemas.microsoft.com/office/powerpoint/2010/main" val="3724461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6C55-D577-3D7D-18D8-EF4DEB3C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BIGINT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60BD-21A3-754E-5846-2832EAC0A3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50922" y="2201836"/>
            <a:ext cx="8876072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err="1"/>
              <a:t>BigInt</a:t>
            </a:r>
            <a:r>
              <a:rPr lang="en-IN" sz="4400" dirty="0"/>
              <a:t> </a:t>
            </a:r>
            <a:r>
              <a:rPr lang="en-IN" sz="2800" dirty="0"/>
              <a:t>is used to </a:t>
            </a:r>
            <a:r>
              <a:rPr lang="en-IN" sz="2800" b="1" dirty="0">
                <a:highlight>
                  <a:srgbClr val="FFFF00"/>
                </a:highlight>
              </a:rPr>
              <a:t>store extremely large integers </a:t>
            </a:r>
            <a:r>
              <a:rPr lang="en-IN" sz="2800" dirty="0"/>
              <a:t>by adding an n at the end of the number.</a:t>
            </a:r>
          </a:p>
          <a:p>
            <a:endParaRPr lang="en-IN" sz="2800" dirty="0"/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</a:t>
            </a:r>
            <a:r>
              <a:rPr lang="en-IN" sz="2800" b="1" dirty="0" err="1"/>
              <a:t>bigNumber</a:t>
            </a:r>
            <a:r>
              <a:rPr lang="en-IN" sz="2800" b="1" dirty="0"/>
              <a:t> = 9007199254740991n;</a:t>
            </a:r>
          </a:p>
        </p:txBody>
      </p:sp>
    </p:spTree>
    <p:extLst>
      <p:ext uri="{BB962C8B-B14F-4D97-AF65-F5344CB8AC3E}">
        <p14:creationId xmlns:p14="http://schemas.microsoft.com/office/powerpoint/2010/main" val="536921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CA2C-57AE-A9D7-9478-3208539D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C023-BB73-4D95-7FF0-051B1CFA66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8575" y="2663952"/>
            <a:ext cx="8994057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</a:t>
            </a:r>
            <a:r>
              <a:rPr lang="en-IN" sz="2800" b="1" dirty="0">
                <a:highlight>
                  <a:srgbClr val="FFFF00"/>
                </a:highlight>
              </a:rPr>
              <a:t>create a unique and immutable value </a:t>
            </a:r>
            <a:r>
              <a:rPr lang="en-IN" sz="2800" dirty="0"/>
              <a:t>, mostly used as unique keys for object properties.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let id = Symbol("</a:t>
            </a:r>
            <a:r>
              <a:rPr lang="en-IN" sz="2800" b="1" dirty="0" err="1"/>
              <a:t>student_id</a:t>
            </a:r>
            <a:r>
              <a:rPr lang="en-IN" sz="2800" b="1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139017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221D-300C-1026-5323-2EACA9A1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NON-PRIMITIVE DATA TYPES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8D05-E7E0-25B1-CA90-3822C5B6ED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2600" y="1444752"/>
            <a:ext cx="10076688" cy="5201854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highlight>
                  <a:srgbClr val="00FF00"/>
                </a:highlight>
              </a:rPr>
              <a:t>OBJECT :-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Used to </a:t>
            </a:r>
            <a:r>
              <a:rPr lang="en-IN" sz="2800" b="1" dirty="0">
                <a:highlight>
                  <a:srgbClr val="FFFF00"/>
                </a:highlight>
              </a:rPr>
              <a:t>store collections of data </a:t>
            </a:r>
            <a:r>
              <a:rPr lang="en-IN" sz="2800" dirty="0"/>
              <a:t>and more complex entities as </a:t>
            </a:r>
            <a:r>
              <a:rPr lang="en-IN" sz="2800" b="1" dirty="0">
                <a:highlight>
                  <a:srgbClr val="FFFF00"/>
                </a:highlight>
              </a:rPr>
              <a:t>key: value</a:t>
            </a:r>
            <a:r>
              <a:rPr lang="en-IN" sz="4400" b="1" dirty="0">
                <a:highlight>
                  <a:srgbClr val="FFFF00"/>
                </a:highlight>
              </a:rPr>
              <a:t> </a:t>
            </a:r>
            <a:r>
              <a:rPr lang="en-IN" sz="2800" dirty="0"/>
              <a:t>pairs or ordered lists.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r>
              <a:rPr lang="en-US" sz="2800" dirty="0"/>
              <a:t>// Stores a complete profile of a student</a:t>
            </a:r>
          </a:p>
          <a:p>
            <a:r>
              <a:rPr lang="en-US" sz="2800" b="1" dirty="0"/>
              <a:t>let student = {</a:t>
            </a:r>
          </a:p>
          <a:p>
            <a:r>
              <a:rPr lang="en-US" sz="2800" b="1" dirty="0"/>
              <a:t>    name: "Rohan",</a:t>
            </a:r>
          </a:p>
          <a:p>
            <a:r>
              <a:rPr lang="en-US" sz="2800" b="1" dirty="0"/>
              <a:t>    age: 12,</a:t>
            </a:r>
          </a:p>
          <a:p>
            <a:r>
              <a:rPr lang="en-US" sz="2800" b="1" dirty="0"/>
              <a:t>    </a:t>
            </a:r>
            <a:r>
              <a:rPr lang="en-US" sz="2800" b="1" dirty="0" err="1"/>
              <a:t>isPassed</a:t>
            </a:r>
            <a:r>
              <a:rPr lang="en-US" sz="2800" b="1" dirty="0"/>
              <a:t>: true</a:t>
            </a:r>
          </a:p>
          <a:p>
            <a:r>
              <a:rPr lang="en-US" sz="2800" b="1" dirty="0"/>
              <a:t>};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56805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AC8E-5701-CD31-2999-BC1156EB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: The Special Object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FCF2C-E697-73E2-FE67-150B4371D8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2781939"/>
            <a:ext cx="10076688" cy="4389120"/>
          </a:xfrm>
        </p:spPr>
        <p:txBody>
          <a:bodyPr>
            <a:normAutofit/>
          </a:bodyPr>
          <a:lstStyle/>
          <a:p>
            <a:r>
              <a:rPr lang="en-IN" sz="2800" dirty="0"/>
              <a:t>// Stores a list of </a:t>
            </a:r>
            <a:r>
              <a:rPr lang="en-IN" sz="2800" b="1" dirty="0">
                <a:highlight>
                  <a:srgbClr val="FFFF00"/>
                </a:highlight>
              </a:rPr>
              <a:t>multiple values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let subjects = ["HTML", "CSS", "JavaScript"];</a:t>
            </a:r>
          </a:p>
        </p:txBody>
      </p:sp>
    </p:spTree>
    <p:extLst>
      <p:ext uri="{BB962C8B-B14F-4D97-AF65-F5344CB8AC3E}">
        <p14:creationId xmlns:p14="http://schemas.microsoft.com/office/powerpoint/2010/main" val="2924887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3104-3712-81A8-20FC-9DB069A1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TYPEOF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3A05A-B8EE-B336-7C97-D673834DED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769216"/>
            <a:ext cx="10076688" cy="528051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err="1"/>
              <a:t>Typeof</a:t>
            </a:r>
            <a:r>
              <a:rPr lang="en-IN" sz="2800" dirty="0"/>
              <a:t> is a built-in </a:t>
            </a:r>
            <a:r>
              <a:rPr lang="en-IN" sz="2800" b="1" dirty="0"/>
              <a:t>unary operator</a:t>
            </a:r>
            <a:r>
              <a:rPr lang="en-IN" sz="2800" dirty="0"/>
              <a:t> in JavaScript.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It is used to check and find out the </a:t>
            </a:r>
            <a:r>
              <a:rPr lang="en-IN" sz="2800" b="1" dirty="0"/>
              <a:t>data type</a:t>
            </a:r>
            <a:r>
              <a:rPr lang="en-IN" sz="2800" dirty="0"/>
              <a:t> of any variable or value.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Think of </a:t>
            </a:r>
            <a:r>
              <a:rPr lang="en-IN" sz="2800" dirty="0" err="1"/>
              <a:t>Typeof</a:t>
            </a:r>
            <a:r>
              <a:rPr lang="en-IN" sz="2800" dirty="0"/>
              <a:t> as a </a:t>
            </a:r>
            <a:r>
              <a:rPr lang="en-IN" sz="2800" b="1" dirty="0"/>
              <a:t>scanner machine</a:t>
            </a:r>
            <a:r>
              <a:rPr lang="en-IN" sz="2800" dirty="0"/>
              <a:t>: when you scan a variable, it tells you what kind of data is inside it (like </a:t>
            </a:r>
            <a:r>
              <a:rPr lang="en-IN" dirty="0"/>
              <a:t>number</a:t>
            </a:r>
            <a:r>
              <a:rPr lang="en-IN" sz="2800" dirty="0"/>
              <a:t>, </a:t>
            </a:r>
            <a:r>
              <a:rPr lang="en-IN" dirty="0"/>
              <a:t>string</a:t>
            </a:r>
            <a:r>
              <a:rPr lang="en-IN" sz="2800" dirty="0"/>
              <a:t>, </a:t>
            </a:r>
            <a:r>
              <a:rPr lang="en-IN" dirty="0" err="1"/>
              <a:t>boolean</a:t>
            </a:r>
            <a:r>
              <a:rPr lang="en-IN" sz="2800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2855704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E077-A42F-8052-8766-BA6C6886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6" y="428392"/>
            <a:ext cx="11311128" cy="640080"/>
          </a:xfrm>
        </p:spPr>
        <p:txBody>
          <a:bodyPr/>
          <a:lstStyle/>
          <a:p>
            <a:r>
              <a:rPr lang="en-US" dirty="0"/>
              <a:t>TYPEOF </a:t>
            </a:r>
            <a:r>
              <a:rPr lang="en-IN" dirty="0"/>
              <a:t>Syntax</a:t>
            </a:r>
            <a:r>
              <a:rPr lang="en-US" dirty="0"/>
              <a:t>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A643-E2CD-F6C1-0B79-9B1EB16C947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00784" y="2468880"/>
            <a:ext cx="10076688" cy="43891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Without parentheses (Most common way):</a:t>
            </a:r>
          </a:p>
          <a:p>
            <a:r>
              <a:rPr lang="en-IN" sz="2800" dirty="0"/>
              <a:t>	</a:t>
            </a:r>
            <a:r>
              <a:rPr lang="en-IN" sz="2800" b="1" dirty="0" err="1"/>
              <a:t>typeof</a:t>
            </a:r>
            <a:r>
              <a:rPr lang="en-IN" sz="2800" b="1" dirty="0"/>
              <a:t> value;</a:t>
            </a: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With parentheses:</a:t>
            </a:r>
          </a:p>
          <a:p>
            <a:r>
              <a:rPr lang="en-IN" sz="2800" dirty="0"/>
              <a:t>	</a:t>
            </a:r>
            <a:r>
              <a:rPr lang="en-IN" sz="2800" b="1" dirty="0" err="1"/>
              <a:t>typeof</a:t>
            </a:r>
            <a:r>
              <a:rPr lang="en-IN" sz="2800" b="1" dirty="0"/>
              <a:t>(value);</a:t>
            </a:r>
          </a:p>
        </p:txBody>
      </p:sp>
    </p:spTree>
    <p:extLst>
      <p:ext uri="{BB962C8B-B14F-4D97-AF65-F5344CB8AC3E}">
        <p14:creationId xmlns:p14="http://schemas.microsoft.com/office/powerpoint/2010/main" val="3290308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53D9-A1D9-CA44-3E5A-85FFE1B8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TYPEOF </a:t>
            </a:r>
            <a:r>
              <a:rPr lang="en-IN" dirty="0"/>
              <a:t>EXAMPLE </a:t>
            </a:r>
            <a:r>
              <a:rPr lang="en-US" dirty="0"/>
              <a:t>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8D2D-859E-EC87-DADB-A1DC2AE238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12963" y="1690557"/>
            <a:ext cx="10760817" cy="5285429"/>
          </a:xfrm>
        </p:spPr>
        <p:txBody>
          <a:bodyPr>
            <a:normAutofit/>
          </a:bodyPr>
          <a:lstStyle/>
          <a:p>
            <a:r>
              <a:rPr lang="en-IN" sz="2800" dirty="0"/>
              <a:t>let age = 15; </a:t>
            </a:r>
          </a:p>
          <a:p>
            <a:r>
              <a:rPr lang="en-IN" sz="2800" dirty="0"/>
              <a:t>let name = "Naiya";</a:t>
            </a:r>
          </a:p>
          <a:p>
            <a:r>
              <a:rPr lang="en-IN" sz="2800" dirty="0"/>
              <a:t>let </a:t>
            </a:r>
            <a:r>
              <a:rPr lang="en-IN" sz="2800" dirty="0" err="1"/>
              <a:t>isPassed</a:t>
            </a:r>
            <a:r>
              <a:rPr lang="en-IN" sz="2800" dirty="0"/>
              <a:t> = true;</a:t>
            </a:r>
          </a:p>
          <a:p>
            <a:r>
              <a:rPr lang="en-IN" sz="2800" dirty="0"/>
              <a:t>let score; </a:t>
            </a:r>
          </a:p>
          <a:p>
            <a:r>
              <a:rPr lang="en-IN" sz="2800" dirty="0"/>
              <a:t>console.log(</a:t>
            </a:r>
            <a:r>
              <a:rPr lang="en-IN" sz="2800" dirty="0" err="1"/>
              <a:t>typeof</a:t>
            </a:r>
            <a:r>
              <a:rPr lang="en-IN" sz="2800" dirty="0"/>
              <a:t> age); </a:t>
            </a:r>
            <a:r>
              <a:rPr lang="en-IN" sz="2800" b="1" dirty="0"/>
              <a:t>// Output: "number“</a:t>
            </a:r>
          </a:p>
          <a:p>
            <a:r>
              <a:rPr lang="en-IN" sz="2800" dirty="0"/>
              <a:t>console.log(</a:t>
            </a:r>
            <a:r>
              <a:rPr lang="en-IN" sz="2800" dirty="0" err="1"/>
              <a:t>typeof</a:t>
            </a:r>
            <a:r>
              <a:rPr lang="en-IN" sz="2800" dirty="0"/>
              <a:t> name); </a:t>
            </a:r>
            <a:r>
              <a:rPr lang="en-IN" sz="2800" b="1" dirty="0"/>
              <a:t>// Output: "string“</a:t>
            </a:r>
          </a:p>
          <a:p>
            <a:r>
              <a:rPr lang="en-IN" sz="2800" dirty="0"/>
              <a:t>console.log(</a:t>
            </a:r>
            <a:r>
              <a:rPr lang="en-IN" sz="2800" dirty="0" err="1"/>
              <a:t>typeof</a:t>
            </a:r>
            <a:r>
              <a:rPr lang="en-IN" sz="2800" dirty="0"/>
              <a:t> </a:t>
            </a:r>
            <a:r>
              <a:rPr lang="en-IN" sz="2800" dirty="0" err="1"/>
              <a:t>isPassed</a:t>
            </a:r>
            <a:r>
              <a:rPr lang="en-IN" sz="2800" dirty="0"/>
              <a:t>); </a:t>
            </a:r>
            <a:r>
              <a:rPr lang="en-IN" sz="2800" b="1" dirty="0"/>
              <a:t>//Output:"</a:t>
            </a:r>
            <a:r>
              <a:rPr lang="en-IN" sz="2800" b="1" dirty="0" err="1"/>
              <a:t>boolean</a:t>
            </a:r>
            <a:r>
              <a:rPr lang="en-IN" sz="2800" b="1" dirty="0"/>
              <a:t>"</a:t>
            </a:r>
          </a:p>
          <a:p>
            <a:r>
              <a:rPr lang="en-IN" sz="2800" dirty="0"/>
              <a:t>console.log(</a:t>
            </a:r>
            <a:r>
              <a:rPr lang="en-IN" sz="2800" dirty="0" err="1"/>
              <a:t>typeof</a:t>
            </a:r>
            <a:r>
              <a:rPr lang="en-IN" sz="2800" dirty="0"/>
              <a:t> score); </a:t>
            </a:r>
            <a:r>
              <a:rPr lang="en-IN" sz="2800" b="1" dirty="0"/>
              <a:t>// Output: "undefined"</a:t>
            </a:r>
          </a:p>
        </p:txBody>
      </p:sp>
    </p:spTree>
    <p:extLst>
      <p:ext uri="{BB962C8B-B14F-4D97-AF65-F5344CB8AC3E}">
        <p14:creationId xmlns:p14="http://schemas.microsoft.com/office/powerpoint/2010/main" val="1296518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AF08-42DA-FE8D-B1D8-699F9E0C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Important Special Case: </a:t>
            </a:r>
            <a:r>
              <a:rPr lang="en-IN" dirty="0" err="1"/>
              <a:t>typeof</a:t>
            </a:r>
            <a:r>
              <a:rPr lang="en-IN" dirty="0"/>
              <a:t> null :-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21015-00F0-BC67-C87A-1C01801C0E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55648" y="1670894"/>
            <a:ext cx="10076688" cy="4389120"/>
          </a:xfrm>
        </p:spPr>
        <p:txBody>
          <a:bodyPr>
            <a:normAutofit fontScale="92500" lnSpcReduction="10000"/>
          </a:bodyPr>
          <a:lstStyle/>
          <a:p>
            <a:endParaRPr lang="en-IN" sz="2800" dirty="0"/>
          </a:p>
          <a:p>
            <a:r>
              <a:rPr lang="en-US" sz="2800" dirty="0"/>
              <a:t>let data = null;</a:t>
            </a:r>
          </a:p>
          <a:p>
            <a:endParaRPr lang="en-US" sz="2800" dirty="0"/>
          </a:p>
          <a:p>
            <a:r>
              <a:rPr lang="en-US" sz="2800" dirty="0"/>
              <a:t>console.log(</a:t>
            </a:r>
            <a:r>
              <a:rPr lang="en-US" sz="2800" dirty="0" err="1"/>
              <a:t>typeof</a:t>
            </a:r>
            <a:r>
              <a:rPr lang="en-US" sz="2800" dirty="0"/>
              <a:t> data);</a:t>
            </a:r>
            <a:r>
              <a:rPr lang="en-US" sz="2800" b="1" dirty="0"/>
              <a:t> // Output: "object“</a:t>
            </a:r>
          </a:p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Even though </a:t>
            </a:r>
            <a:r>
              <a:rPr lang="en-IN" dirty="0"/>
              <a:t>null</a:t>
            </a:r>
            <a:r>
              <a:rPr lang="en-IN" sz="2800" dirty="0"/>
              <a:t> is a Primitive Data Type, </a:t>
            </a:r>
            <a:r>
              <a:rPr lang="en-IN" sz="2800" dirty="0" err="1"/>
              <a:t>typeof</a:t>
            </a:r>
            <a:r>
              <a:rPr lang="en-IN" sz="2800" dirty="0"/>
              <a:t> null</a:t>
            </a:r>
            <a:r>
              <a:rPr lang="en-IN" sz="4400" dirty="0"/>
              <a:t> </a:t>
            </a:r>
            <a:r>
              <a:rPr lang="en-IN" sz="2800" dirty="0"/>
              <a:t>returns "object"</a:t>
            </a:r>
            <a:r>
              <a:rPr lang="en-IN" sz="4400" dirty="0"/>
              <a:t>. </a:t>
            </a:r>
            <a:r>
              <a:rPr lang="en-IN" sz="2800" dirty="0"/>
              <a:t>This is a well-known bug from the first version of JavaScript, kept as-is so old code on the web doesn't break!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105123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D53F-9F12-9FF5-B749-F0D0BF6C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: ARITHMETIC OPERATORS 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6B08-DFA7-FADF-BCEA-D34C49A111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32658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10E3-0BB6-7CFD-4661-19D1D868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 :-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325F-03EF-3978-182A-6F08C2C587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87238024"/>
      </p:ext>
    </p:extLst>
  </p:cSld>
  <p:clrMapOvr>
    <a:masterClrMapping/>
  </p:clrMapOvr>
</p:sld>
</file>

<file path=ppt/theme/theme1.xml><?xml version="1.0" encoding="utf-8"?>
<a:theme xmlns:a="http://schemas.openxmlformats.org/drawingml/2006/main" name="Making Templates Accessibl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7">
      <a:majorFont>
        <a:latin typeface="Cambria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ility guide.potx" id="{709F6ED1-91B4-42EB-B205-04CA5CDF84DF}" vid="{41E99566-B948-45A3-A3EF-0F5CFCE3D0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Accessibility guide</Template>
  <TotalTime>1169</TotalTime>
  <Words>1320</Words>
  <Application>Microsoft Office PowerPoint</Application>
  <PresentationFormat>Widescreen</PresentationFormat>
  <Paragraphs>247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</vt:lpstr>
      <vt:lpstr>Segoe UI</vt:lpstr>
      <vt:lpstr>Wingdings</vt:lpstr>
      <vt:lpstr>Making Templates Accessible</vt:lpstr>
      <vt:lpstr>JAVASCRIPT</vt:lpstr>
      <vt:lpstr>WHAT IS JAVASCRIPT ?</vt:lpstr>
      <vt:lpstr>JAVASCRIPT :-</vt:lpstr>
      <vt:lpstr>History of JavaScript :- </vt:lpstr>
      <vt:lpstr>History of JavaScript :- </vt:lpstr>
      <vt:lpstr>HISTORY OF JAVASCRIPT :-</vt:lpstr>
      <vt:lpstr>HISTORY OF JAVASCRIPT :-</vt:lpstr>
      <vt:lpstr>HISTORY OF JAVASCRIPT :- </vt:lpstr>
      <vt:lpstr>HISTORY OF JAVASCRIPT :- </vt:lpstr>
      <vt:lpstr>KEY FEATURES :- </vt:lpstr>
      <vt:lpstr>Your First JavaScript Code :- </vt:lpstr>
      <vt:lpstr>Syntax &amp; Uses  :- </vt:lpstr>
      <vt:lpstr>COMMENTS IN JAVASCRIPT :- </vt:lpstr>
      <vt:lpstr>THREE Ways to Write JavaScript in HTML :-</vt:lpstr>
      <vt:lpstr>Inline JavaScript :-</vt:lpstr>
      <vt:lpstr>INTERNAL JAVASCRIPT :- </vt:lpstr>
      <vt:lpstr>EXTERNAL JAVASCRIPT :- </vt:lpstr>
      <vt:lpstr>VARIABLES :-</vt:lpstr>
      <vt:lpstr>VARIABLE DECLARATIONS :-</vt:lpstr>
      <vt:lpstr>Variable Declaration Comparision :-</vt:lpstr>
      <vt:lpstr>DATA TYPES :- </vt:lpstr>
      <vt:lpstr>Primitive Data Types :</vt:lpstr>
      <vt:lpstr>NUMBER :</vt:lpstr>
      <vt:lpstr>STRING : </vt:lpstr>
      <vt:lpstr>BOOLEAN :-</vt:lpstr>
      <vt:lpstr>UNDEFINED :-</vt:lpstr>
      <vt:lpstr>NULL :-</vt:lpstr>
      <vt:lpstr>BIGINT :- </vt:lpstr>
      <vt:lpstr>SYMBOL :- </vt:lpstr>
      <vt:lpstr>NON-PRIMITIVE DATA TYPES :- </vt:lpstr>
      <vt:lpstr>ARRAY : The Special Object :- </vt:lpstr>
      <vt:lpstr>TYPEOF :-</vt:lpstr>
      <vt:lpstr>TYPEOF Syntax :- </vt:lpstr>
      <vt:lpstr>TYPEOF EXAMPLE :- </vt:lpstr>
      <vt:lpstr>Important Special Case: typeof null :- </vt:lpstr>
      <vt:lpstr>OPERATORS : ARITHMETIC OPERATORS :-</vt:lpstr>
      <vt:lpstr>ARITHMETIC OPERATORS :-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naiyapatel1818@outlook.com</dc:creator>
  <cp:lastModifiedBy>naiyapatel1818@outlook.com</cp:lastModifiedBy>
  <cp:revision>2</cp:revision>
  <dcterms:created xsi:type="dcterms:W3CDTF">2026-09-26T14:29:37Z</dcterms:created>
  <dcterms:modified xsi:type="dcterms:W3CDTF">2026-10-01T08:52:04Z</dcterms:modified>
  <cp:version/>
</cp:coreProperties>
</file>